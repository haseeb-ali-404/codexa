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B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hero-d91503e1f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502920" y="548640"/>
            <a:ext cx="4937760" cy="5577840"/>
          </a:xfrm>
          <a:prstGeom prst="roundRect">
            <a:avLst/>
          </a:prstGeom>
          <a:solidFill>
            <a:srgbClr val="070A12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411480"/>
            <a:ext cx="3840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38BDF8"/>
                </a:solidFill>
              </a:defRPr>
            </a:pPr>
            <a:r>
              <a:t>PROJECT OVERVIEW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786384"/>
            <a:ext cx="475488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1F5F9"/>
                </a:solidFill>
              </a:defRPr>
            </a:pPr>
            <a:r>
              <a:t>Welcome to MASRAT Store: E-commerce Platform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1645920"/>
            <a:ext cx="448056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94A3B8"/>
                </a:solidFill>
              </a:defRPr>
            </a:pPr>
            <a:r>
              <a:t>A Modern Digital Showcase for Women's Fashion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971800"/>
            <a:ext cx="1828800" cy="420624"/>
          </a:xfrm>
          <a:prstGeom prst="roundRect">
            <a:avLst/>
          </a:prstGeom>
          <a:solidFill>
            <a:srgbClr val="111827"/>
          </a:solidFill>
          <a:ln w="1524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1F5F9"/>
                </a:solidFill>
              </a:defRPr>
            </a:pPr>
            <a:r>
              <a:t>Frontend UI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88920" y="2971800"/>
            <a:ext cx="1828800" cy="420624"/>
          </a:xfrm>
          <a:prstGeom prst="roundRect">
            <a:avLst/>
          </a:prstGeom>
          <a:solidFill>
            <a:srgbClr val="111827"/>
          </a:solidFill>
          <a:ln w="1524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1F5F9"/>
                </a:solidFill>
              </a:defRPr>
            </a:pPr>
            <a:r>
              <a:t>Python Backend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630168"/>
            <a:ext cx="1828800" cy="420624"/>
          </a:xfrm>
          <a:prstGeom prst="roundRect">
            <a:avLst/>
          </a:prstGeom>
          <a:solidFill>
            <a:srgbClr val="111827"/>
          </a:solidFill>
          <a:ln w="1524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1F5F9"/>
                </a:solidFill>
              </a:defRPr>
            </a:pPr>
            <a:r>
              <a:t>React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788920" y="3630168"/>
            <a:ext cx="1828800" cy="420624"/>
          </a:xfrm>
          <a:prstGeom prst="roundRect">
            <a:avLst/>
          </a:prstGeom>
          <a:solidFill>
            <a:srgbClr val="111827"/>
          </a:solidFill>
          <a:ln w="1524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1F5F9"/>
                </a:solidFill>
              </a:defRPr>
            </a:pPr>
            <a:r>
              <a:t>Vite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526280"/>
            <a:ext cx="429768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38BDF8"/>
                </a:solidFill>
              </a:defRPr>
            </a:pPr>
            <a:r>
              <a:t>Presentation focus</a:t>
            </a:r>
          </a:p>
          <a:p>
            <a:pPr>
              <a:defRPr sz="1600">
                <a:solidFill>
                  <a:srgbClr val="F1F5F9"/>
                </a:solidFill>
              </a:defRPr>
            </a:pPr>
            <a:r>
              <a:t>• Set up FastAPI backend with MongoDB, data models, and JWT authentication.</a:t>
            </a:r>
          </a:p>
          <a:p>
            <a:pPr>
              <a:defRPr sz="1600">
                <a:solidFill>
                  <a:srgbClr val="F1F5F9"/>
                </a:solidFill>
              </a:defRPr>
            </a:pPr>
            <a:r>
              <a:t>• Implement User endpoints: registration, login, and profile management.</a:t>
            </a:r>
          </a:p>
          <a:p>
            <a:pPr>
              <a:defRPr sz="1600">
                <a:solidFill>
                  <a:srgbClr val="F1F5F9"/>
                </a:solidFill>
              </a:defRPr>
            </a:pPr>
            <a:r>
              <a:t>• Create Admin API endpoints for CRUD operations on Product, Category, and Order entities.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B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11480"/>
            <a:ext cx="3840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38BDF8"/>
                </a:solidFill>
              </a:defRPr>
            </a:pPr>
            <a:r>
              <a:t>WHY THIS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786384"/>
            <a:ext cx="475488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1F5F9"/>
                </a:solidFill>
              </a:defRPr>
            </a:pPr>
            <a:r>
              <a:t>The Challenge: Bringing MASRAT Online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600200"/>
            <a:ext cx="4572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</a:defRPr>
            </a:pPr>
            <a:r>
              <a:t>• Lack of a dedicated online sales channel for MASRAT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</a:defRPr>
            </a:pPr>
            <a:r>
              <a:t>• Limited market reach beyond physical storefronts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</a:defRPr>
            </a:pPr>
            <a:r>
              <a:t>• Requirement for secure transactions and user management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</a:defRPr>
            </a:pPr>
            <a:r>
              <a:t>• Inefficiencies with manual inventory and order processing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</a:defRPr>
            </a:pPr>
            <a:r>
              <a:t>• Demand for a visually appealing and intuitive shopping experience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0" y="1280160"/>
            <a:ext cx="4663440" cy="1005840"/>
          </a:xfrm>
          <a:prstGeom prst="roundRect">
            <a:avLst/>
          </a:prstGeom>
          <a:solidFill>
            <a:srgbClr val="111827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38BDF8"/>
                </a:solidFill>
              </a:defRPr>
            </a:pPr>
            <a:r>
              <a:t>01</a:t>
            </a:r>
          </a:p>
          <a:p>
            <a:pPr>
              <a:defRPr sz="1800" b="1">
                <a:solidFill>
                  <a:srgbClr val="F1F5F9"/>
                </a:solidFill>
              </a:defRPr>
            </a:pPr>
            <a:r>
              <a:t>Lack of a dedicated online sales channel for MASRAT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2697480"/>
            <a:ext cx="4663440" cy="1005840"/>
          </a:xfrm>
          <a:prstGeom prst="roundRect">
            <a:avLst/>
          </a:prstGeom>
          <a:solidFill>
            <a:srgbClr val="111827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38BDF8"/>
                </a:solidFill>
              </a:defRPr>
            </a:pPr>
            <a:r>
              <a:t>02</a:t>
            </a:r>
          </a:p>
          <a:p>
            <a:pPr>
              <a:defRPr sz="1800" b="1">
                <a:solidFill>
                  <a:srgbClr val="F1F5F9"/>
                </a:solidFill>
              </a:defRPr>
            </a:pPr>
            <a:r>
              <a:t>Limited market reach beyond physical storefronts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4114800"/>
            <a:ext cx="4663440" cy="1005840"/>
          </a:xfrm>
          <a:prstGeom prst="roundRect">
            <a:avLst/>
          </a:prstGeom>
          <a:solidFill>
            <a:srgbClr val="111827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38BDF8"/>
                </a:solidFill>
              </a:defRPr>
            </a:pPr>
            <a:r>
              <a:t>03</a:t>
            </a:r>
          </a:p>
          <a:p>
            <a:pPr>
              <a:defRPr sz="1800" b="1">
                <a:solidFill>
                  <a:srgbClr val="F1F5F9"/>
                </a:solidFill>
              </a:defRPr>
            </a:pPr>
            <a:r>
              <a:t>Requirement for secure transactions and user management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B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11480"/>
            <a:ext cx="3840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38BDF8"/>
                </a:solidFill>
              </a:defRPr>
            </a:pPr>
            <a:r>
              <a:t>PROPOSED APPROACH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786384"/>
            <a:ext cx="475488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1F5F9"/>
                </a:solidFill>
              </a:defRPr>
            </a:pPr>
            <a:r>
              <a:t>Our Solution: The MASRAT E-commerce Platform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600200"/>
            <a:ext cx="4572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</a:defRPr>
            </a:pPr>
            <a:r>
              <a:t>• Full-featured online store for women's clothing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</a:defRPr>
            </a:pPr>
            <a:r>
              <a:t>• Secure user authentication and personalized profile management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</a:defRPr>
            </a:pPr>
            <a:r>
              <a:t>• Intuitive product browsing, cart management, and order placement workflows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</a:defRPr>
            </a:pPr>
            <a:r>
              <a:t>• Robust administrative backend for product, category, and order control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</a:defRPr>
            </a:pPr>
            <a:r>
              <a:t>• Responsive design ensuring seamless access on any device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828800"/>
            <a:ext cx="1417320" cy="3291840"/>
          </a:xfrm>
          <a:prstGeom prst="roundRect">
            <a:avLst/>
          </a:prstGeom>
          <a:solidFill>
            <a:srgbClr val="111827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600" b="1">
                <a:solidFill>
                  <a:srgbClr val="38BDF8"/>
                </a:solidFill>
              </a:defRPr>
            </a:pPr>
            <a:r>
              <a:t>1</a:t>
            </a:r>
          </a:p>
          <a:p>
            <a:pPr algn="ctr">
              <a:defRPr sz="1600" b="1">
                <a:solidFill>
                  <a:srgbClr val="F1F5F9"/>
                </a:solidFill>
              </a:defRPr>
            </a:pPr>
            <a:r>
              <a:t>Full-featured online store for women's clothing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882127" y="1828800"/>
            <a:ext cx="1417320" cy="3291840"/>
          </a:xfrm>
          <a:prstGeom prst="roundRect">
            <a:avLst/>
          </a:prstGeom>
          <a:solidFill>
            <a:srgbClr val="111827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600" b="1">
                <a:solidFill>
                  <a:srgbClr val="38BDF8"/>
                </a:solidFill>
              </a:defRPr>
            </a:pPr>
            <a:r>
              <a:t>2</a:t>
            </a:r>
          </a:p>
          <a:p>
            <a:pPr algn="ctr">
              <a:defRPr sz="1600" b="1">
                <a:solidFill>
                  <a:srgbClr val="F1F5F9"/>
                </a:solidFill>
              </a:defRPr>
            </a:pPr>
            <a:r>
              <a:t>Secure user authentication and personalized profile management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546336" y="1828800"/>
            <a:ext cx="1417320" cy="3291840"/>
          </a:xfrm>
          <a:prstGeom prst="roundRect">
            <a:avLst/>
          </a:prstGeom>
          <a:solidFill>
            <a:srgbClr val="111827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600" b="1">
                <a:solidFill>
                  <a:srgbClr val="38BDF8"/>
                </a:solidFill>
              </a:defRPr>
            </a:pPr>
            <a:r>
              <a:t>3</a:t>
            </a:r>
          </a:p>
          <a:p>
            <a:pPr algn="ctr">
              <a:defRPr sz="1600" b="1">
                <a:solidFill>
                  <a:srgbClr val="F1F5F9"/>
                </a:solidFill>
              </a:defRPr>
            </a:pPr>
            <a:r>
              <a:t>Intuitive product browsing, cart management, and order placement workflows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B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11480"/>
            <a:ext cx="3840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38BDF8"/>
                </a:solidFill>
              </a:defRPr>
            </a:pPr>
            <a:r>
              <a:t>SYSTEM 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786384"/>
            <a:ext cx="475488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1F5F9"/>
                </a:solidFill>
              </a:defRPr>
            </a:pPr>
            <a:r>
              <a:t>Platform Blueprint: Our Architectural Design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600200"/>
            <a:ext cx="39319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</a:defRPr>
            </a:pPr>
            <a:r>
              <a:t>• Client Interface: React/Vite for dynamic user interaction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</a:defRPr>
            </a:pPr>
            <a:r>
              <a:t>• Application API: FastAPI Service for all backend logic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</a:defRPr>
            </a:pPr>
            <a:r>
              <a:t>• MongoDB Storage: Persistent and flexible data management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</a:defRPr>
            </a:pPr>
            <a:r>
              <a:t>• Auth Module: Dedicated JWT authentication for security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</a:defRPr>
            </a:pPr>
            <a:r>
              <a:t>• Modular design for easier development and scaling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983480" y="1325880"/>
            <a:ext cx="6400800" cy="4526280"/>
          </a:xfrm>
          <a:prstGeom prst="roundRect">
            <a:avLst/>
          </a:prstGeom>
          <a:solidFill>
            <a:srgbClr val="0C121E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compon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38928" y="1481328"/>
            <a:ext cx="6089904" cy="420624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B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11480"/>
            <a:ext cx="3840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38BDF8"/>
                </a:solidFill>
              </a:defRPr>
            </a:pPr>
            <a:r>
              <a:t>FLOW OF EXECUTION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786384"/>
            <a:ext cx="475488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1F5F9"/>
                </a:solidFill>
              </a:defRPr>
            </a:pPr>
            <a:r>
              <a:t>Development Flow: From Concept to Delivery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600200"/>
            <a:ext cx="39319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</a:defRPr>
            </a:pPr>
            <a:r>
              <a:t>• Backend Setup: FastAPI, MongoDB, and initial JWT authentication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</a:defRPr>
            </a:pPr>
            <a:r>
              <a:t>• Core API Development: User, Admin, and Customer endpoints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</a:defRPr>
            </a:pPr>
            <a:r>
              <a:t>• Frontend Implementation: React/Vite, routing, and Zustand state management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</a:defRPr>
            </a:pPr>
            <a:r>
              <a:t>• UI/UX Refinement: Tailwind CSS for responsive and modern design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</a:defRPr>
            </a:pPr>
            <a:r>
              <a:t>• Comprehensive testing and deployment preparations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983480" y="1325880"/>
            <a:ext cx="6400800" cy="4526280"/>
          </a:xfrm>
          <a:prstGeom prst="roundRect">
            <a:avLst/>
          </a:prstGeom>
          <a:solidFill>
            <a:srgbClr val="0C121E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seque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38928" y="1481328"/>
            <a:ext cx="6089904" cy="420624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B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11480"/>
            <a:ext cx="3840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38BDF8"/>
                </a:solidFill>
              </a:defRPr>
            </a:pPr>
            <a:r>
              <a:t>WHAT STANDS OUT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786384"/>
            <a:ext cx="475488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1F5F9"/>
                </a:solidFill>
              </a:defRPr>
            </a:pPr>
            <a:r>
              <a:t>Core Capabilities: What MASRAT Store Offers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49808" y="1508760"/>
            <a:ext cx="5029200" cy="1645920"/>
          </a:xfrm>
          <a:prstGeom prst="roundRect">
            <a:avLst/>
          </a:prstGeom>
          <a:solidFill>
            <a:srgbClr val="111827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1F5F9"/>
                </a:solidFill>
              </a:defRPr>
            </a:pPr>
            <a:r>
              <a:t>**Customer Experience**: Effortless product browsing, robust cart, secure checkout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72200" y="1508760"/>
            <a:ext cx="5029200" cy="1645920"/>
          </a:xfrm>
          <a:prstGeom prst="roundRect">
            <a:avLst/>
          </a:prstGeom>
          <a:solidFill>
            <a:srgbClr val="111827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1F5F9"/>
                </a:solidFill>
              </a:defRPr>
            </a:pPr>
            <a:r>
              <a:t>**User Management**: Registration, login (JWT), and comprehensive profile updates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9808" y="3703320"/>
            <a:ext cx="5029200" cy="1645920"/>
          </a:xfrm>
          <a:prstGeom prst="roundRect">
            <a:avLst/>
          </a:prstGeom>
          <a:solidFill>
            <a:srgbClr val="111827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1F5F9"/>
                </a:solidFill>
              </a:defRPr>
            </a:pPr>
            <a:r>
              <a:t>**Admin Tools**: CRUD operations for Products, Categories, and Orders via API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3703320"/>
            <a:ext cx="5029200" cy="1645920"/>
          </a:xfrm>
          <a:prstGeom prst="roundRect">
            <a:avLst/>
          </a:prstGeom>
          <a:solidFill>
            <a:srgbClr val="111827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1F5F9"/>
                </a:solidFill>
              </a:defRPr>
            </a:pPr>
            <a:r>
              <a:t>**Authentication**: Role-based access and secure API interactions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5623560"/>
            <a:ext cx="10789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</a:defRPr>
            </a:pPr>
            <a:r>
              <a:t>• **Responsive UI**: Optimized shopping experience across desktop and mobile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B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11480"/>
            <a:ext cx="3840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38BDF8"/>
                </a:solidFill>
              </a:defRPr>
            </a:pPr>
            <a:r>
              <a:t>STRATEGIC VALUE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786384"/>
            <a:ext cx="475488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1F5F9"/>
                </a:solidFill>
              </a:defRPr>
            </a:pPr>
            <a:r>
              <a:t>Key Takeaways: Performance &amp; Optimization Highlights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371600"/>
            <a:ext cx="5303520" cy="2103120"/>
          </a:xfrm>
          <a:prstGeom prst="roundRect">
            <a:avLst/>
          </a:prstGeom>
          <a:solidFill>
            <a:srgbClr val="111827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1F5F9"/>
                </a:solidFill>
              </a:defRPr>
            </a:pPr>
            <a:r>
              <a:t>1. **Robust API Design**: FastAPI ensured high performance and maintainability.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92240" y="1371600"/>
            <a:ext cx="5303520" cy="2103120"/>
          </a:xfrm>
          <a:prstGeom prst="roundRect">
            <a:avLst/>
          </a:prstGeom>
          <a:solidFill>
            <a:srgbClr val="111827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1F5F9"/>
                </a:solidFill>
              </a:defRPr>
            </a:pPr>
            <a:r>
              <a:t>2. **Efficient Data Handling**: MongoDB provided flexibility and scalability.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3840480"/>
            <a:ext cx="5303520" cy="2103120"/>
          </a:xfrm>
          <a:prstGeom prst="roundRect">
            <a:avLst/>
          </a:prstGeom>
          <a:solidFill>
            <a:srgbClr val="111827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1F5F9"/>
                </a:solidFill>
              </a:defRPr>
            </a:pPr>
            <a:r>
              <a:t>3. **Seamless User Experience**: Modern React frontend delivered intuitive interactions.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92240" y="3840480"/>
            <a:ext cx="5303520" cy="2103120"/>
          </a:xfrm>
          <a:prstGeom prst="roundRect">
            <a:avLst/>
          </a:prstGeom>
          <a:solidFill>
            <a:srgbClr val="111827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1F5F9"/>
                </a:solidFill>
              </a:defRPr>
            </a:pPr>
            <a:r>
              <a:t>4. **Prioritized Security**: JWT authentication for secure access and data.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B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11480"/>
            <a:ext cx="3840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38BDF8"/>
                </a:solidFill>
              </a:defRPr>
            </a:pPr>
            <a:r>
              <a:t>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786384"/>
            <a:ext cx="475488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1F5F9"/>
                </a:solidFill>
              </a:defRPr>
            </a:pPr>
            <a:r>
              <a:t>Our Journey: Implementation &amp; Development Roadmap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286000"/>
            <a:ext cx="731520" cy="731520"/>
          </a:xfrm>
          <a:prstGeom prst="roundRect">
            <a:avLst/>
          </a:prstGeom>
          <a:solidFill>
            <a:srgbClr val="60A5FA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080B14"/>
                </a:solidFill>
              </a:defRPr>
            </a:pPr>
            <a:r>
              <a:t>1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1554480" y="2651760"/>
            <a:ext cx="1163781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365760" y="3200400"/>
            <a:ext cx="14630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1F5F9"/>
                </a:solidFill>
              </a:defRPr>
            </a:pPr>
            <a:r>
              <a:t>Backend Foundation (FastAPI, MongoDB setup, initial Auth)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809701" y="2286000"/>
            <a:ext cx="731520" cy="731520"/>
          </a:xfrm>
          <a:prstGeom prst="roundRect">
            <a:avLst/>
          </a:prstGeom>
          <a:solidFill>
            <a:srgbClr val="60A5FA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080B14"/>
                </a:solidFill>
              </a:defRPr>
            </a:pPr>
            <a:r>
              <a:t>2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632661" y="2651760"/>
            <a:ext cx="1163782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2443941" y="3200400"/>
            <a:ext cx="14630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1F5F9"/>
                </a:solidFill>
              </a:defRPr>
            </a:pPr>
            <a:r>
              <a:t>Core API Endpoints (User, Product, Category, Order CRUD)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887883" y="2286000"/>
            <a:ext cx="731520" cy="731520"/>
          </a:xfrm>
          <a:prstGeom prst="roundRect">
            <a:avLst/>
          </a:prstGeom>
          <a:solidFill>
            <a:srgbClr val="60A5FA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080B14"/>
                </a:solidFill>
              </a:defRPr>
            </a:pPr>
            <a:r>
              <a:t>3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710843" y="2651760"/>
            <a:ext cx="1163782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4522123" y="3200400"/>
            <a:ext cx="14630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1F5F9"/>
                </a:solidFill>
              </a:defRPr>
            </a:pPr>
            <a:r>
              <a:t>Frontend Structure &amp; Core Pages (React, Routing, Basic UI)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966065" y="2286000"/>
            <a:ext cx="731520" cy="731520"/>
          </a:xfrm>
          <a:prstGeom prst="roundRect">
            <a:avLst/>
          </a:prstGeom>
          <a:solidFill>
            <a:srgbClr val="60A5FA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080B14"/>
                </a:solidFill>
              </a:defRPr>
            </a:pPr>
            <a:r>
              <a:t>4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789025" y="2651760"/>
            <a:ext cx="1163782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6600305" y="3200400"/>
            <a:ext cx="14630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1F5F9"/>
                </a:solidFill>
              </a:defRPr>
            </a:pPr>
            <a:r>
              <a:t>UI/UX Integration &amp; State Management (Tailwind, Zustand)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5303520"/>
            <a:ext cx="104241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</a:defRPr>
            </a:pPr>
            <a:r>
              <a:t>• Iterative delivery with weekly checkpoints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</a:defRPr>
            </a:pPr>
            <a:r>
              <a:t>• Continuous integration and deployment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</a:defRPr>
            </a:pPr>
            <a:r>
              <a:t>• Regular stakeholder reviews and feedback loops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B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11480"/>
            <a:ext cx="3840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38BDF8"/>
                </a:solidFill>
              </a:defRPr>
            </a:pPr>
            <a:r>
              <a:t>IMPLEMENTATION 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786384"/>
            <a:ext cx="475488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1F5F9"/>
                </a:solidFill>
              </a:defRPr>
            </a:pPr>
            <a:r>
              <a:t>Technology Powering MASRAT: Our Robust Stack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737360"/>
            <a:ext cx="3017520" cy="621792"/>
          </a:xfrm>
          <a:prstGeom prst="roundRect">
            <a:avLst/>
          </a:prstGeom>
          <a:solidFill>
            <a:srgbClr val="111827"/>
          </a:solidFill>
          <a:ln w="1524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1F5F9"/>
                </a:solidFill>
              </a:defRPr>
            </a:pPr>
            <a:r>
              <a:t>**Frontend**: React, Vite, TypeScript, Tailwind CSS, Zustand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737360"/>
            <a:ext cx="3017520" cy="621792"/>
          </a:xfrm>
          <a:prstGeom prst="roundRect">
            <a:avLst/>
          </a:prstGeom>
          <a:solidFill>
            <a:srgbClr val="111827"/>
          </a:solidFill>
          <a:ln w="1524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1F5F9"/>
                </a:solidFill>
              </a:defRPr>
            </a:pPr>
            <a:r>
              <a:t>**Backend**: Python, FastAPI, Uvicorn, Motor (MongoDB driver)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955279" y="1737360"/>
            <a:ext cx="3017520" cy="621792"/>
          </a:xfrm>
          <a:prstGeom prst="roundRect">
            <a:avLst/>
          </a:prstGeom>
          <a:solidFill>
            <a:srgbClr val="111827"/>
          </a:solidFill>
          <a:ln w="1524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1F5F9"/>
                </a:solidFill>
              </a:defRPr>
            </a:pPr>
            <a:r>
              <a:t>**Database**: MongoDB (NoSQL, flexible schema for products)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2880360"/>
            <a:ext cx="3017520" cy="621792"/>
          </a:xfrm>
          <a:prstGeom prst="roundRect">
            <a:avLst/>
          </a:prstGeom>
          <a:solidFill>
            <a:srgbClr val="111827"/>
          </a:solidFill>
          <a:ln w="1524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1F5F9"/>
                </a:solidFill>
              </a:defRPr>
            </a:pPr>
            <a:r>
              <a:t>**Authentication**: JWT, bcrypt for secure password hashing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2880360"/>
            <a:ext cx="3017520" cy="621792"/>
          </a:xfrm>
          <a:prstGeom prst="roundRect">
            <a:avLst/>
          </a:prstGeom>
          <a:solidFill>
            <a:srgbClr val="111827"/>
          </a:solidFill>
          <a:ln w="1524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1F5F9"/>
                </a:solidFill>
              </a:defRPr>
            </a:pPr>
            <a:r>
              <a:t>**Tooling**: Pydantic, Zod for robust data validation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4251960"/>
            <a:ext cx="106070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</a:defRPr>
            </a:pPr>
            <a:r>
              <a:t>• Stack selected to keep the system modular and maintainable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</a:defRPr>
            </a:pPr>
            <a:r>
              <a:t>• AI features stay decoupled from presentation and UML services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</a:defRPr>
            </a:pPr>
            <a:r>
              <a:t>• Outputs are stored and reused through cached project assets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B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11480"/>
            <a:ext cx="3840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38BDF8"/>
                </a:solidFill>
              </a:defRPr>
            </a:pPr>
            <a:r>
              <a:t>NEXT EVOLUTION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786384"/>
            <a:ext cx="475488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1F5F9"/>
                </a:solidFill>
              </a:defRPr>
            </a:pPr>
            <a:r>
              <a:t>What's Next: Expanding MASRAT Store Capabilities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86384" y="1920240"/>
            <a:ext cx="3108960" cy="2377440"/>
          </a:xfrm>
          <a:prstGeom prst="roundRect">
            <a:avLst/>
          </a:prstGeom>
          <a:solidFill>
            <a:srgbClr val="111827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38BDF8"/>
                </a:solidFill>
              </a:defRPr>
            </a:pPr>
            <a:r>
              <a:t>Now</a:t>
            </a:r>
          </a:p>
          <a:p>
            <a:pPr>
              <a:defRPr sz="1800" b="1">
                <a:solidFill>
                  <a:srgbClr val="F1F5F9"/>
                </a:solidFill>
              </a:defRPr>
            </a:pPr>
            <a:r>
              <a:t>Integration with Payment Gateways (e.g., Stripe, PayPal)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35424" y="1920240"/>
            <a:ext cx="3108960" cy="2377440"/>
          </a:xfrm>
          <a:prstGeom prst="roundRect">
            <a:avLst/>
          </a:prstGeom>
          <a:solidFill>
            <a:srgbClr val="111827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38BDF8"/>
                </a:solidFill>
              </a:defRPr>
            </a:pPr>
            <a:r>
              <a:t>Next</a:t>
            </a:r>
          </a:p>
          <a:p>
            <a:pPr>
              <a:defRPr sz="1800" b="1">
                <a:solidFill>
                  <a:srgbClr val="F1F5F9"/>
                </a:solidFill>
              </a:defRPr>
            </a:pPr>
            <a:r>
              <a:t>Advanced Search &amp; Filtering functionalities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84463" y="1920240"/>
            <a:ext cx="3108960" cy="2377440"/>
          </a:xfrm>
          <a:prstGeom prst="roundRect">
            <a:avLst/>
          </a:prstGeom>
          <a:solidFill>
            <a:srgbClr val="111827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38BDF8"/>
                </a:solidFill>
              </a:defRPr>
            </a:pPr>
            <a:r>
              <a:t>Later</a:t>
            </a:r>
          </a:p>
          <a:p>
            <a:pPr>
              <a:defRPr sz="1800" b="1">
                <a:solidFill>
                  <a:srgbClr val="F1F5F9"/>
                </a:solidFill>
              </a:defRPr>
            </a:pPr>
            <a:r>
              <a:t>Personalized Product Recommendations Engine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6384" y="4892040"/>
            <a:ext cx="104241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</a:defRPr>
            </a:pPr>
            <a:r>
              <a:t>• Customer Reviews &amp; Ratings System for social proof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</a:defRPr>
            </a:pPr>
            <a:r>
              <a:t>• Internationalization (Multi-language, Multi-currency support)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