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ero-9f85ce60d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02920" y="548640"/>
            <a:ext cx="4937760" cy="5577840"/>
          </a:xfrm>
          <a:prstGeom prst="roundRect">
            <a:avLst/>
          </a:prstGeom>
          <a:solidFill>
            <a:srgbClr val="070A12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86384"/>
            <a:ext cx="47548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Elysian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645920"/>
            <a:ext cx="448056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94A3B8"/>
                </a:solidFill>
              </a:defRPr>
            </a:pPr>
            <a:r>
              <a:t>Create a modern, elegant, and high-end fashion store website with a strong focus on minimalism, smooth animations, and 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971800"/>
            <a:ext cx="1828800" cy="420624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1F5F9"/>
                </a:solidFill>
              </a:defRPr>
            </a:pPr>
            <a:r>
              <a:t>Frontend UI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88920" y="2971800"/>
            <a:ext cx="1828800" cy="420624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1F5F9"/>
                </a:solidFill>
              </a:defRPr>
            </a:pPr>
            <a:r>
              <a:t>Python Backend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630168"/>
            <a:ext cx="1828800" cy="420624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1F5F9"/>
                </a:solidFill>
              </a:defRPr>
            </a:pPr>
            <a:r>
              <a:t>React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88920" y="3630168"/>
            <a:ext cx="1828800" cy="420624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1F5F9"/>
                </a:solidFill>
              </a:defRPr>
            </a:pPr>
            <a:r>
              <a:t>Vite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526280"/>
            <a:ext cx="4297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Presentation focus</a:t>
            </a:r>
          </a:p>
          <a:p>
            <a:pPr>
              <a:defRPr sz="1600">
                <a:solidFill>
                  <a:srgbClr val="F1F5F9"/>
                </a:solidFill>
              </a:defRPr>
            </a:pPr>
            <a:r>
              <a:t>• Define project requirements</a:t>
            </a:r>
          </a:p>
          <a:p>
            <a:pPr>
              <a:defRPr sz="1600">
                <a:solidFill>
                  <a:srgbClr val="F1F5F9"/>
                </a:solidFill>
              </a:defRPr>
            </a:pPr>
            <a:r>
              <a:t>• Design system architecture</a:t>
            </a:r>
          </a:p>
          <a:p>
            <a:pPr>
              <a:defRPr sz="1600">
                <a:solidFill>
                  <a:srgbClr val="F1F5F9"/>
                </a:solidFill>
              </a:defRPr>
            </a:pPr>
            <a:r>
              <a:t>• Set up backend structure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WHY THIS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47548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6002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• Elysian 2 needs a clearer story from problem to delivery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• Teams need faster delivery without losing structure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• Preview and validation loops slow down iteration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280160"/>
            <a:ext cx="4663440" cy="100584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01</a:t>
            </a:r>
          </a:p>
          <a:p>
            <a:pPr>
              <a:defRPr sz="1800" b="1">
                <a:solidFill>
                  <a:srgbClr val="F1F5F9"/>
                </a:solidFill>
              </a:defRPr>
            </a:pPr>
            <a:r>
              <a:t>Elysian 2 needs a clearer story from problem to delivery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697480"/>
            <a:ext cx="4663440" cy="100584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02</a:t>
            </a:r>
          </a:p>
          <a:p>
            <a:pPr>
              <a:defRPr sz="1800" b="1">
                <a:solidFill>
                  <a:srgbClr val="F1F5F9"/>
                </a:solidFill>
              </a:defRPr>
            </a:pPr>
            <a:r>
              <a:t>Teams need faster delivery without losing structure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4114800"/>
            <a:ext cx="4663440" cy="100584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03</a:t>
            </a:r>
          </a:p>
          <a:p>
            <a:pPr>
              <a:defRPr sz="1800" b="1">
                <a:solidFill>
                  <a:srgbClr val="F1F5F9"/>
                </a:solidFill>
              </a:defRPr>
            </a:pPr>
            <a:r>
              <a:t>Preview and validation loops slow down iteration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PROPOSED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47548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6002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• Position Elysian 2 as a cohesive delivery-ready solution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• Combine planning, generation, and review in one workflow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• Keep changes traceable and easy to iterate 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1417320" cy="329184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38BDF8"/>
                </a:solidFill>
              </a:defRPr>
            </a:pPr>
            <a:r>
              <a:t>1</a:t>
            </a:r>
          </a:p>
          <a:p>
            <a:pPr algn="ctr">
              <a:defRPr sz="1600" b="1">
                <a:solidFill>
                  <a:srgbClr val="F1F5F9"/>
                </a:solidFill>
              </a:defRPr>
            </a:pPr>
            <a:r>
              <a:t>Position Elysian 2 as a cohesive delivery-ready solution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82127" y="1828800"/>
            <a:ext cx="1417320" cy="329184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38BDF8"/>
                </a:solidFill>
              </a:defRPr>
            </a:pPr>
            <a:r>
              <a:t>2</a:t>
            </a:r>
          </a:p>
          <a:p>
            <a:pPr algn="ctr">
              <a:defRPr sz="1600" b="1">
                <a:solidFill>
                  <a:srgbClr val="F1F5F9"/>
                </a:solidFill>
              </a:defRPr>
            </a:pPr>
            <a:r>
              <a:t>Combine planning, generation, and review in one workflow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46336" y="1828800"/>
            <a:ext cx="1417320" cy="329184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38BDF8"/>
                </a:solidFill>
              </a:defRPr>
            </a:pPr>
            <a:r>
              <a:t>3</a:t>
            </a:r>
          </a:p>
          <a:p>
            <a:pPr algn="ctr">
              <a:defRPr sz="1600" b="1">
                <a:solidFill>
                  <a:srgbClr val="F1F5F9"/>
                </a:solidFill>
              </a:defRPr>
            </a:pPr>
            <a:r>
              <a:t>Keep changes traceable and easy to iterate 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SYSTEM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47548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600200"/>
            <a:ext cx="3931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• Client Interface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• Application API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• FastAPI Service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• MongoDB Storage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83480" y="1325880"/>
            <a:ext cx="6400800" cy="4526280"/>
          </a:xfrm>
          <a:prstGeom prst="roundRect">
            <a:avLst/>
          </a:prstGeom>
          <a:solidFill>
            <a:srgbClr val="0C121E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ompon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8928" y="1481328"/>
            <a:ext cx="6089904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FLOW OF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47548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600200"/>
            <a:ext cx="3931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• Define project requirements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• Design system architecture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• Set up backend structure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• Implement core backend features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• Build frontend interface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83480" y="1325880"/>
            <a:ext cx="6400800" cy="4526280"/>
          </a:xfrm>
          <a:prstGeom prst="roundRect">
            <a:avLst/>
          </a:prstGeom>
          <a:solidFill>
            <a:srgbClr val="0C121E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equ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8928" y="1481328"/>
            <a:ext cx="6089904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WHAT STANDS 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47548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Features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508760"/>
            <a:ext cx="5029200" cy="164592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1F5F9"/>
                </a:solidFill>
              </a:defRPr>
            </a:pPr>
            <a:r>
              <a:t>Define project requirements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508760"/>
            <a:ext cx="5029200" cy="164592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1F5F9"/>
                </a:solidFill>
              </a:defRPr>
            </a:pPr>
            <a:r>
              <a:t>Design system 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3703320"/>
            <a:ext cx="5029200" cy="164592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1F5F9"/>
                </a:solidFill>
              </a:defRPr>
            </a:pPr>
            <a:r>
              <a:t>Set up backend structure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3703320"/>
            <a:ext cx="5029200" cy="164592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1F5F9"/>
                </a:solidFill>
              </a:defRPr>
            </a:pPr>
            <a:r>
              <a:t>Implement core backend features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62356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• Authentication and secure user access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STRATEGIC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47548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Key Insights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371600"/>
            <a:ext cx="5303520" cy="210312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1F5F9"/>
                </a:solidFill>
              </a:defRPr>
            </a:pPr>
            <a:r>
              <a:t>1. Elysian 2 benefits from a modular architecture that can evolve incrementally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371600"/>
            <a:ext cx="5303520" cy="210312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1F5F9"/>
                </a:solidFill>
              </a:defRPr>
            </a:pPr>
            <a:r>
              <a:t>2. Cached assets reduce redundant processing during repeated runs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840480"/>
            <a:ext cx="5303520" cy="210312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1F5F9"/>
                </a:solidFill>
              </a:defRPr>
            </a:pPr>
            <a:r>
              <a:t>3. Real-time preview loops accelerate iteration cycles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3840480"/>
            <a:ext cx="5303520" cy="210312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1F5F9"/>
                </a:solidFill>
              </a:defRPr>
            </a:pPr>
            <a:r>
              <a:t>4. Project-specific workflows stay easier to reason about when elysian 2 concerns are separated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47548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Implementation Path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731520" cy="731520"/>
          </a:xfrm>
          <a:prstGeom prst="roundRect">
            <a:avLst/>
          </a:prstGeom>
          <a:solidFill>
            <a:srgbClr val="60A5FA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80B14"/>
                </a:solidFill>
              </a:defRPr>
            </a:pPr>
            <a:r>
              <a:t>1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554480" y="2651760"/>
            <a:ext cx="162559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65760" y="3200400"/>
            <a:ext cx="1463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1F5F9"/>
                </a:solidFill>
              </a:defRPr>
            </a:pPr>
            <a:r>
              <a:t>Frame the core elysian 2 workflow and data contracts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71519" y="2286000"/>
            <a:ext cx="731520" cy="731520"/>
          </a:xfrm>
          <a:prstGeom prst="roundRect">
            <a:avLst/>
          </a:prstGeom>
          <a:solidFill>
            <a:srgbClr val="60A5FA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80B14"/>
                </a:solidFill>
              </a:defRPr>
            </a:pPr>
            <a:r>
              <a:t>2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094480" y="2651760"/>
            <a:ext cx="16256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905760" y="3200400"/>
            <a:ext cx="1463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1F5F9"/>
                </a:solidFill>
              </a:defRPr>
            </a:pPr>
            <a:r>
              <a:t>Implement services and integrate the happy path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11520" y="2286000"/>
            <a:ext cx="731520" cy="731520"/>
          </a:xfrm>
          <a:prstGeom prst="roundRect">
            <a:avLst/>
          </a:prstGeom>
          <a:solidFill>
            <a:srgbClr val="60A5FA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80B14"/>
                </a:solidFill>
              </a:defRPr>
            </a:pPr>
            <a:r>
              <a:t>3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634480" y="2651760"/>
            <a:ext cx="16256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445759" y="3200400"/>
            <a:ext cx="1463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1F5F9"/>
                </a:solidFill>
              </a:defRPr>
            </a:pPr>
            <a:r>
              <a:t>Validate preview/runtime flows and tighten failure handling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51520" y="2286000"/>
            <a:ext cx="731520" cy="731520"/>
          </a:xfrm>
          <a:prstGeom prst="roundRect">
            <a:avLst/>
          </a:prstGeom>
          <a:solidFill>
            <a:srgbClr val="60A5FA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80B14"/>
                </a:solidFill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85759" y="3200400"/>
            <a:ext cx="1463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1F5F9"/>
                </a:solidFill>
              </a:defRPr>
            </a:pPr>
            <a:r>
              <a:t>Polish delivery quality, optimize, and prepare rollout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303520"/>
            <a:ext cx="10424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• Iterative delivery with weekly checkpoints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• Continuous integration and deployment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• Regular stakeholder reviews and feedback loops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IMPLEMENTATION 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47548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Tech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3017520" cy="621792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1F5F9"/>
                </a:solidFill>
              </a:defRPr>
            </a:pPr>
            <a:r>
              <a:t>Frontend UI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737360"/>
            <a:ext cx="3017520" cy="621792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1F5F9"/>
                </a:solidFill>
              </a:defRPr>
            </a:pPr>
            <a:r>
              <a:t>Python Backend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737360"/>
            <a:ext cx="3017520" cy="621792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1F5F9"/>
                </a:solidFill>
              </a:defRPr>
            </a:pPr>
            <a:r>
              <a:t>React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880360"/>
            <a:ext cx="3017520" cy="621792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1F5F9"/>
                </a:solidFill>
              </a:defRPr>
            </a:pPr>
            <a:r>
              <a:t>Vite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880360"/>
            <a:ext cx="3017520" cy="621792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1F5F9"/>
                </a:solidFill>
              </a:defRPr>
            </a:pPr>
            <a:r>
              <a:t>TypeScript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4251960"/>
            <a:ext cx="10607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• Stack selected to keep the system modular and maintainable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• AI features stay decoupled from presentation and UML services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• Outputs are stored and reused through cached project assets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NEXT EVOLUTION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47548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Future Scope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" y="1920240"/>
            <a:ext cx="3108960" cy="237744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Now</a:t>
            </a:r>
          </a:p>
          <a:p>
            <a:pPr>
              <a:defRPr sz="1800" b="1">
                <a:solidFill>
                  <a:srgbClr val="F1F5F9"/>
                </a:solidFill>
              </a:defRPr>
            </a:pPr>
            <a:r>
              <a:t>Add deeper automation and richer reporting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35424" y="1920240"/>
            <a:ext cx="3108960" cy="237744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Next</a:t>
            </a:r>
          </a:p>
          <a:p>
            <a:pPr>
              <a:defRPr sz="1800" b="1">
                <a:solidFill>
                  <a:srgbClr val="F1F5F9"/>
                </a:solidFill>
              </a:defRPr>
            </a:pPr>
            <a:r>
              <a:t>Expand integrations for deployment and monitoring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84463" y="1920240"/>
            <a:ext cx="3108960" cy="237744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Later</a:t>
            </a:r>
          </a:p>
          <a:p>
            <a:pPr>
              <a:defRPr sz="1800" b="1">
                <a:solidFill>
                  <a:srgbClr val="F1F5F9"/>
                </a:solidFill>
              </a:defRPr>
            </a:pPr>
            <a:r>
              <a:t>Improve reusable templates and collaboration flows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